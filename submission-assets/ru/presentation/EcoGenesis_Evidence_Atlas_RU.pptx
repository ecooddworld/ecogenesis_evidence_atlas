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733d71c11f46bc" /><Relationship Type="http://schemas.openxmlformats.org/officeDocument/2006/relationships/extended-properties" Target="/docProps/app.xml" Id="Rfdb90a6237a94a49" /><Relationship Type="http://schemas.openxmlformats.org/officeDocument/2006/relationships/officeDocument" Target="/ppt/presentation.xml" Id="Rdd87bcc7596540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f4a12dd38040c4"/>
  </p:sldMasterIdLst>
  <p:notesMasterIdLst>
    <p:notesMasterId xmlns:r="http://schemas.openxmlformats.org/officeDocument/2006/relationships" r:id="R7a3d26e8233c40a8"/>
  </p:notesMasterIdLst>
  <p:sldIdLst>
    <p:sldId xmlns:r="http://schemas.openxmlformats.org/officeDocument/2006/relationships" id="256" r:id="Rdb9b0a04bebd4069"/>
    <p:sldId xmlns:r="http://schemas.openxmlformats.org/officeDocument/2006/relationships" id="257" r:id="R802a8dad738f4e21"/>
    <p:sldId xmlns:r="http://schemas.openxmlformats.org/officeDocument/2006/relationships" id="258" r:id="R4e2b65a6d6ca44f2"/>
    <p:sldId xmlns:r="http://schemas.openxmlformats.org/officeDocument/2006/relationships" id="259" r:id="R1a51a376050f4a6a"/>
    <p:sldId xmlns:r="http://schemas.openxmlformats.org/officeDocument/2006/relationships" id="260" r:id="R613ca920278043cc"/>
    <p:sldId xmlns:r="http://schemas.openxmlformats.org/officeDocument/2006/relationships" id="261" r:id="R360cce663962416e"/>
    <p:sldId xmlns:r="http://schemas.openxmlformats.org/officeDocument/2006/relationships" id="262" r:id="Ra0f5b2f795b94877"/>
    <p:sldId xmlns:r="http://schemas.openxmlformats.org/officeDocument/2006/relationships" id="263" r:id="R41af760e8eed4f23"/>
    <p:sldId xmlns:r="http://schemas.openxmlformats.org/officeDocument/2006/relationships" id="264" r:id="R6f3268f0aecb4664"/>
    <p:sldId xmlns:r="http://schemas.openxmlformats.org/officeDocument/2006/relationships" id="265" r:id="R5a53821cb29f4f93"/>
    <p:sldId xmlns:r="http://schemas.openxmlformats.org/officeDocument/2006/relationships" id="266" r:id="R698be1a211af4cc7"/>
    <p:sldId xmlns:r="http://schemas.openxmlformats.org/officeDocument/2006/relationships" id="267" r:id="Rb3464ea6d19d4953"/>
    <p:sldId xmlns:r="http://schemas.openxmlformats.org/officeDocument/2006/relationships" id="268" r:id="Rccf1efda3af54617"/>
    <p:sldId xmlns:r="http://schemas.openxmlformats.org/officeDocument/2006/relationships" id="269" r:id="Recb8bfabebeb49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4a12dd38040c4" /><Relationship Type="http://schemas.openxmlformats.org/officeDocument/2006/relationships/theme" Target="/ppt/theme/theme1.xml" Id="Re092fee6540a4728" /><Relationship Type="http://schemas.openxmlformats.org/officeDocument/2006/relationships/notesMaster" Target="/ppt/notesMasters/notesMaster1.xml" Id="R7a3d26e8233c40a8" /><Relationship Type="http://schemas.openxmlformats.org/officeDocument/2006/relationships/presProps" Target="/ppt/presProps.xml" Id="R1a0075a87a5046f2" /><Relationship Type="http://schemas.openxmlformats.org/officeDocument/2006/relationships/viewProps" Target="/ppt/viewProps.xml" Id="R38dc2b7309084d3c" /><Relationship Type="http://schemas.openxmlformats.org/officeDocument/2006/relationships/tableStyles" Target="/ppt/tableStyles.xml" Id="R8c7a7f23a8fc43e6" /><Relationship Type="http://schemas.openxmlformats.org/officeDocument/2006/relationships/slide" Target="/ppt/slides/slide1.xml" Id="Rdb9b0a04bebd4069" /><Relationship Type="http://schemas.openxmlformats.org/officeDocument/2006/relationships/slide" Target="/ppt/slides/slide2.xml" Id="R802a8dad738f4e21" /><Relationship Type="http://schemas.openxmlformats.org/officeDocument/2006/relationships/slide" Target="/ppt/slides/slide3.xml" Id="R4e2b65a6d6ca44f2" /><Relationship Type="http://schemas.openxmlformats.org/officeDocument/2006/relationships/slide" Target="/ppt/slides/slide4.xml" Id="R1a51a376050f4a6a" /><Relationship Type="http://schemas.openxmlformats.org/officeDocument/2006/relationships/slide" Target="/ppt/slides/slide5.xml" Id="R613ca920278043cc" /><Relationship Type="http://schemas.openxmlformats.org/officeDocument/2006/relationships/slide" Target="/ppt/slides/slide6.xml" Id="R360cce663962416e" /><Relationship Type="http://schemas.openxmlformats.org/officeDocument/2006/relationships/slide" Target="/ppt/slides/slide7.xml" Id="Ra0f5b2f795b94877" /><Relationship Type="http://schemas.openxmlformats.org/officeDocument/2006/relationships/slide" Target="/ppt/slides/slide8.xml" Id="R41af760e8eed4f23" /><Relationship Type="http://schemas.openxmlformats.org/officeDocument/2006/relationships/slide" Target="/ppt/slides/slide9.xml" Id="R6f3268f0aecb4664" /><Relationship Type="http://schemas.openxmlformats.org/officeDocument/2006/relationships/slide" Target="/ppt/slides/slide10.xml" Id="R5a53821cb29f4f93" /><Relationship Type="http://schemas.openxmlformats.org/officeDocument/2006/relationships/slide" Target="/ppt/slides/slide11.xml" Id="R698be1a211af4cc7" /><Relationship Type="http://schemas.openxmlformats.org/officeDocument/2006/relationships/slide" Target="/ppt/slides/slide12.xml" Id="Rb3464ea6d19d4953" /><Relationship Type="http://schemas.openxmlformats.org/officeDocument/2006/relationships/slide" Target="/ppt/slides/slide13.xml" Id="Rccf1efda3af54617" /><Relationship Type="http://schemas.openxmlformats.org/officeDocument/2006/relationships/slide" Target="/ppt/slides/slide14.xml" Id="Recb8bfabebeb49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e796e10ad047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8e862270b6423c" /><Relationship Type="http://schemas.openxmlformats.org/officeDocument/2006/relationships/notesMaster" Target="/ppt/notesMasters/notesMaster1.xml" Id="R6b264be2c1534d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0df192fbde4439" /><Relationship Type="http://schemas.openxmlformats.org/officeDocument/2006/relationships/notesMaster" Target="/ppt/notesMasters/notesMaster1.xml" Id="R9bc2108874fc4b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aa261ca18645b5" /><Relationship Type="http://schemas.openxmlformats.org/officeDocument/2006/relationships/notesMaster" Target="/ppt/notesMasters/notesMaster1.xml" Id="Rf168459443044b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cfc3ea938242dc" /><Relationship Type="http://schemas.openxmlformats.org/officeDocument/2006/relationships/notesMaster" Target="/ppt/notesMasters/notesMaster1.xml" Id="Rd3385af9b49f41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aa2767709a4b43" /><Relationship Type="http://schemas.openxmlformats.org/officeDocument/2006/relationships/notesMaster" Target="/ppt/notesMasters/notesMaster1.xml" Id="R00e18089dc0a40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3413b23ede4eb8" /><Relationship Type="http://schemas.openxmlformats.org/officeDocument/2006/relationships/notesMaster" Target="/ppt/notesMasters/notesMaster1.xml" Id="Rb065d75732fd44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69edb54bca4629" /><Relationship Type="http://schemas.openxmlformats.org/officeDocument/2006/relationships/notesMaster" Target="/ppt/notesMasters/notesMaster1.xml" Id="Re85143fc1f914f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67c42c4d07484c" /><Relationship Type="http://schemas.openxmlformats.org/officeDocument/2006/relationships/notesMaster" Target="/ppt/notesMasters/notesMaster1.xml" Id="R1cb352fcacd34c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89f069c2fc4d1f" /><Relationship Type="http://schemas.openxmlformats.org/officeDocument/2006/relationships/notesMaster" Target="/ppt/notesMasters/notesMaster1.xml" Id="Rfb168d6309ac4f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dc3aba0fe74f1c" /><Relationship Type="http://schemas.openxmlformats.org/officeDocument/2006/relationships/notesMaster" Target="/ppt/notesMasters/notesMaster1.xml" Id="R4f3e015713c948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f2315212e1946f2" /><Relationship Type="http://schemas.openxmlformats.org/officeDocument/2006/relationships/notesMaster" Target="/ppt/notesMasters/notesMaster1.xml" Id="Rc9eeabce125f45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50fcc3239ca4498" /><Relationship Type="http://schemas.openxmlformats.org/officeDocument/2006/relationships/notesMaster" Target="/ppt/notesMasters/notesMaster1.xml" Id="Ra0363274413d46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d2b182a74a4899" /><Relationship Type="http://schemas.openxmlformats.org/officeDocument/2006/relationships/notesMaster" Target="/ppt/notesMasters/notesMaster1.xml" Id="R2178ef46691440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ffdc9d354a4d0b" /><Relationship Type="http://schemas.openxmlformats.org/officeDocument/2006/relationships/notesMaster" Target="/ppt/notesMasters/notesMaster1.xml" Id="R5b8a83b5a81b4e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e63e37640a4d8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a6af3442bb0406c" /><Relationship Type="http://schemas.openxmlformats.org/officeDocument/2006/relationships/slideLayout" Target="/ppt/slideLayouts/slideLayout2.xml" Id="R1faaf366094a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af366094a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f37addb3bd4795" /><Relationship Type="http://schemas.openxmlformats.org/officeDocument/2006/relationships/notesSlide" Target="/ppt/notesSlides/notesSlide1.xml" Id="R5db2737e25e74e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cf1f4c7fc41f5" /><Relationship Type="http://schemas.openxmlformats.org/officeDocument/2006/relationships/notesSlide" Target="/ppt/notesSlides/notesSlide2.xml" Id="R96a497d9afcc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e8fe7d8233470d" /><Relationship Type="http://schemas.openxmlformats.org/officeDocument/2006/relationships/notesSlide" Target="/ppt/notesSlides/notesSlide3.xml" Id="R33d6e2a6c9604a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60f01bfc334829" /><Relationship Type="http://schemas.openxmlformats.org/officeDocument/2006/relationships/notesSlide" Target="/ppt/notesSlides/notesSlide4.xml" Id="Rf604b338a03d41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924fb0e5174e9f" /><Relationship Type="http://schemas.openxmlformats.org/officeDocument/2006/relationships/notesSlide" Target="/ppt/notesSlides/notesSlide5.xml" Id="R975a4ba9a03247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696946826e4a99" /><Relationship Type="http://schemas.openxmlformats.org/officeDocument/2006/relationships/image" Target="/ppt/media/image.png" Id="R0b77733bf7dc4e03" /><Relationship Type="http://schemas.openxmlformats.org/officeDocument/2006/relationships/notesSlide" Target="/ppt/notesSlides/notesSlide6.xml" Id="R94fe7d2435cf43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855f865d594a60" /><Relationship Type="http://schemas.openxmlformats.org/officeDocument/2006/relationships/image" Target="/ppt/media/image2.png" Id="R0314fe7d6dfd418b" /><Relationship Type="http://schemas.openxmlformats.org/officeDocument/2006/relationships/notesSlide" Target="/ppt/notesSlides/notesSlide7.xml" Id="Rdbeaa494201d4d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0537d98ee24809" /><Relationship Type="http://schemas.openxmlformats.org/officeDocument/2006/relationships/image" Target="/ppt/media/image3.png" Id="R1856f087d9744dd8" /><Relationship Type="http://schemas.openxmlformats.org/officeDocument/2006/relationships/notesSlide" Target="/ppt/notesSlides/notesSlide8.xml" Id="R946c60eb2c88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1b3e7039446a0" /><Relationship Type="http://schemas.openxmlformats.org/officeDocument/2006/relationships/notesSlide" Target="/ppt/notesSlides/notesSlide9.xml" Id="R82e135c7a5734f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9cbf45b1134ff5" /><Relationship Type="http://schemas.openxmlformats.org/officeDocument/2006/relationships/image" Target="/ppt/media/image4.png" Id="R647414a0f4ef4d21" /><Relationship Type="http://schemas.openxmlformats.org/officeDocument/2006/relationships/notesSlide" Target="/ppt/notesSlides/notesSlide10.xml" Id="R683fc80cc90d4a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fb010a21d462c" /><Relationship Type="http://schemas.openxmlformats.org/officeDocument/2006/relationships/notesSlide" Target="/ppt/notesSlides/notesSlide11.xml" Id="Rdb03aaf0be1b49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1264ffa61479a" /><Relationship Type="http://schemas.openxmlformats.org/officeDocument/2006/relationships/notesSlide" Target="/ppt/notesSlides/notesSlide12.xml" Id="Rcdedd34d9aeb4e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62bfcbe6c84467" /><Relationship Type="http://schemas.openxmlformats.org/officeDocument/2006/relationships/notesSlide" Target="/ppt/notesSlides/notesSlide13.xml" Id="R1461ccc965514d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3caa4449994048" /><Relationship Type="http://schemas.openxmlformats.org/officeDocument/2006/relationships/notesSlide" Target="/ppt/notesSlides/notesSlide14.xml" Id="R5e12a9bcea3947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4B261-4AA2-4679-B02A-8AD6526D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0B3BBD-AECF-4344-9E0C-DD1C0038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497740-2132-48B6-AA7D-04F442DD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ПРОСТОЕ ОБЪЯСНЕНИЕ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80CD4-AF75-44A4-84B7-F95131DE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239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380B9-2367-4B58-AD77-75737F88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742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Как превратить данные GBIF из точек на карте в понятное, проверяемое решение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E1E75-F303-480F-AA73-B77CE534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01703-C396-465F-8965-2DB02502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GBIF данные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9C276-36EE-4CCD-98A9-F53C528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67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94E1A-C9BD-4F27-9B66-738E5F56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528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A1A91-F363-4ABE-A296-2CF1C853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290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C95F4-7F1B-4085-A318-07D43EA0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CB36C-A350-422C-9522-96F730DB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67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ECC26-672B-4641-BF2B-EE051FAF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528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FA8FA-53C3-4797-9896-35814AF0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4290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F54D1-0802-49D0-B82A-7AC70B9D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14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карта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7BCFA-DE91-40C6-B008-3845E03E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67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F4E94-2DDC-4984-BF7A-6C82E210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528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7B3E5-EC92-4FF3-835F-5E33325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290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51889-3A4A-4060-9673-D0DC00C9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14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выводы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0D453B-2E38-4F31-A03B-9A2B5DAB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67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807A8-1450-434A-B400-B692113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528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39538F-E6EB-4C35-87F1-AAA10C1C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296218-11C1-4A99-BE11-FB8715DC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Evidence Pack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E8705-913D-4020-9226-25BDD5E5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Главная фраза: не просто “где записи?”, а “что эти записи позволяют безопасно решить?”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D92E5-4B1D-4DB4-B5D3-794EADB8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BB877B-7DD2-4957-9243-525E26F4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779057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3189AC-521F-4316-9A58-B8641E5E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452F4F5-98C8-4991-A7E1-0FEBA5D4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32CA629-86B4-47AC-A44F-4BBFAD8F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ЗАЧЕМ ЭТО НУЖНО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5874A-0597-4C94-9B92-96FEFD7F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Проблема: карта с точками легко вводит в заблуждение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5C840-F9A4-4D47-B27D-0BC06BAA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Данные о находках видов важны, но без проверки качества и ограничений они могут привести к слишком сильным выводам.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11DB4-8306-41E5-9747-AAD6C6E2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953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B"/>
          </a:solidFill>
          <a:ln xmlns:a="http://schemas.openxmlformats.org/drawingml/2006/main" w="9525">
            <a:solidFill>
              <a:srgbClr val="B451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CB2FF-A9E0-4648-AE83-F085CC37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451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45145"/>
                </a:solidFill>
                <a:latin typeface="Arial"/>
                <a:ea typeface="Arial"/>
                <a:cs typeface="Arial"/>
              </a:rPr>
              <a:t>Опасная интерпретация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4F941-6C5E-4406-B953-9B83951C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45"/>
          </a:solidFill>
          <a:ln xmlns:a="http://schemas.openxmlformats.org/drawingml/2006/main" w="0">
            <a:solidFill>
              <a:srgbClr val="B451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EAEEA-4A18-4196-9CBE-AD87601B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Нет точек - значит вида нет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2BDBE-4D44-408D-A250-FCA3159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45"/>
          </a:solidFill>
          <a:ln xmlns:a="http://schemas.openxmlformats.org/drawingml/2006/main" w="0">
            <a:solidFill>
              <a:srgbClr val="B451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B2D48-AE3B-42E2-BBE0-B58D53B9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Точки показывают истинное распространение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8C86AA-17ED-43FC-9E74-18D5851C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45"/>
          </a:solidFill>
          <a:ln xmlns:a="http://schemas.openxmlformats.org/drawingml/2006/main" w="0">
            <a:solidFill>
              <a:srgbClr val="B451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6FF47-F11D-4075-91F1-B5927320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Можно сразу делать научный вывод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7F853-5EAB-4480-A302-500D025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953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75E82-47B5-44EF-83DF-921D0959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Безопасная интерпретация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1E3AD7-D556-43F4-ACD1-83F60F61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289AD-BA40-4973-B118-D142A1C1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385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Нет точек - это может быть пробел данных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72472B-9824-46BD-8877-27A044FE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76580E-125A-4586-A007-A37A5D9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957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Нужно смотреть качество, время и источники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BDAB5-FB41-4140-A86A-43D7C742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29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041B87-5E85-48AB-B7F1-26DE5F27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552950"/>
            <a:ext cx="388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Вывод должен иметь caveats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E0E60-9125-409C-B145-9AAF61F5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40B57-53EE-49CF-9554-37B8B323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32494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57A131-2C31-4AEA-BED6-7FD52264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BC50979-B3F6-4DA4-8763-9BDD84DF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3325727-A953-4CEF-B1BB-2AAA724A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КОНТЕКСТ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8D8D1A-282A-4AFE-A878-C02A6341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GBIF - это библиотека наблюдений, а не готовый ответ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57FF7-7A53-40A8-8BF9-A2F94A2E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GBIF дает доступ к огромному массиву открытых данных. EcoGenesis добавляет слой понимания: пригодны ли эти данные для конкретного решения.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E365E-57EA-4F84-9309-27BAC1F8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C39D1-741E-4F51-B256-90142D10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GBIF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EDBF8-DDE6-4EA8-88B7-A1F9CE8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открытые записи</a:t>
            </a:r>
          </a:p>
          <a:p xmlns:a="http://schemas.openxmlformats.org/drawingml/2006/main">
            <a:pPr algn="ctr">
              <a:defRPr sz="15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о находках видов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078359-CBDB-4A30-9DB2-73BC51E4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81400"/>
            <a:ext cx="95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2"/>
          </a:solidFill>
          <a:ln xmlns:a="http://schemas.openxmlformats.org/drawingml/2006/main" w="0">
            <a:solidFill>
              <a:srgbClr val="1E5A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E4E00-DF75-4C64-9945-A05AEE9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4671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8A313-D901-412D-9AB0-8EF69086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02E9B-F99E-49FB-BEDB-08BED1E6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480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83A34-C2C8-49DA-8676-F807C2E9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43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качество, ограничения,</a:t>
            </a:r>
          </a:p>
          <a:p xmlns:a="http://schemas.openxmlformats.org/drawingml/2006/main">
            <a:pPr algn="ctr">
              <a:defRPr sz="15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цитирование, выводы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1AD2C-AB55-4078-B38A-32C9AC91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81400"/>
            <a:ext cx="971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2"/>
          </a:solidFill>
          <a:ln xmlns:a="http://schemas.openxmlformats.org/drawingml/2006/main" w="0">
            <a:solidFill>
              <a:srgbClr val="1E5A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A1623-72D5-4493-8F6F-A9606A15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671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ECBD3-0E49-4D20-876D-E04AEC0C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765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AA7F80-9D2B-45C0-8232-B126DABD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1432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F9518-AA6F-4843-A458-CF61AC85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619500"/>
            <a:ext cx="1238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что можно</a:t>
            </a:r>
          </a:p>
          <a:p xmlns:a="http://schemas.openxmlformats.org/drawingml/2006/main">
            <a:pPr algn="ctr">
              <a:defRPr sz="15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утверждать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252B2-2851-4131-B8CE-A307A9F4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AD98B-2648-4F2A-9B25-E871D3E2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36141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6A590-C5D7-4C64-86E2-FB8A549B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F5385EE-7EB7-4B7B-AD1E-F075445F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D445EFE-5356-4D25-9B4C-76546929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ПРОДУКТОВАЯ ИДЕЯ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B0A81-3E46-417D-B295-CBC06F65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Evidence Passport - это паспорт надежности данных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C49F0-08A9-4E36-BCA9-23D71EAF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Он собирает в одном месте карту, качество, ограничения, цитирование и следующий шаг.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404C8-BD67-4DFE-B4E1-206A334A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356CB-1D1C-4521-801B-D99231CB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Decision Memo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3B554-0F49-4943-9E13-49FE0249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короткий ответ человеку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0055A-4145-41B3-BFEA-B0324744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57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8464F-E3D0-4110-91A9-53A2BFF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99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Evidence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686C4F-97CD-40D2-A619-C549A427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242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карта записей и пробелов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4ED5E-6CDC-4016-B408-509217EA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D2"/>
          </a:solidFill>
          <a:ln xmlns:a="http://schemas.openxmlformats.org/drawingml/2006/main" w="9525">
            <a:solidFill>
              <a:srgbClr val="A66A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7DAC7-63C2-4F64-A0CD-2A1BD4A4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66A1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66A1F"/>
                </a:solidFill>
                <a:latin typeface="Arial"/>
                <a:ea typeface="Arial"/>
                <a:cs typeface="Arial"/>
              </a:rPr>
              <a:t>Claim Guardrails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BAE0E-9147-47FC-B270-9D0167D2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242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что можно и нельзя говорить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37F4A-B5E1-4078-B781-AE2CDBC3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29BFB8-F1FF-4385-BB12-14B45A7B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Citation Autopilot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9203A-613A-4CC6-91E6-0A380F85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кого и как цитировать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7F63A-50F5-40B8-8D6A-F51C2D64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14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DCB945-3724-49A8-9834-06793846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Publisher 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BE13B-F44A-4DD9-91EA-4F801AA2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815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что исправить в данных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EE19E-6597-4C6D-9494-4490EDD1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1480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99BC3-D2A5-4F4A-BE35-243A60CE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67200"/>
            <a:ext cx="2762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JSON / CSV / GeoJSON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C9A03-E770-4F43-A259-A565EC99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815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проверяемый экспорт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8A6225-CD0B-429E-92F5-16F0E590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3AF1E-9131-4A81-8746-087BAF19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39270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F7AA0-89AD-4B93-87E7-7144FCFF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8D9206-DC38-47DF-96F9-3D05EC87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98AA8E-8576-4F80-B44E-4D2DD75E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КАК РАБОТАЕТ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6C56C-6B2C-40FE-90D6-C591348D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Рабочий процесс остается очень простым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410F4-9EF8-4A2B-AD45-40BE9B99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Вся сложность спрятана внутри проверки данных и export pack. Пользователь проходит понятный путь.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BAFF1-1677-4A63-B3B3-DDBCB2D4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87A90-ED38-4AEF-B429-51D28AE8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C0931-4DD1-4E5A-A947-C1930662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Выбрать вид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1F6DC-A48B-4800-BBAC-7A3DAABB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taxonKey из GBIF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F9576-E767-4B75-BCF4-F6272289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481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B9879-856E-4966-B981-D2CD31FA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338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7F057-1F62-4307-B196-8B0EEA2D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004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52119-E090-4731-8710-A33DA209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65C26-BEF3-474D-90FD-B6F10F33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Выбрать регион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AE0F1-FD9F-4405-8B71-B91C2CB3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910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preset или bbox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DF809D-1213-4A6D-B464-A6F50252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EA629-9F27-4F3D-BEF8-D8BFBA40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37338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79225-8A06-41F5-82FE-D7181AFA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004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43E86-C36A-4593-9D3E-DF7FEFAF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A92569-4565-43AE-BAF0-E37B1BBB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Выбрать цель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BE379-9720-448E-B73A-E932510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910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зачем анализ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C879C-2458-40FC-9E28-610792C2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481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7A9F3-C97B-4C72-96D2-5EDF70B5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7338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FB032-1240-4D3A-B459-2CFD227D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004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3504F-72EF-481D-9FE7-3B83F5AA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817FAC-3E9E-48F2-A723-39E52944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Запустить GBIF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B27866-5DAA-4DEB-BDF3-0CDF31DE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910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live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DE44E9-9BE7-4DE0-9336-EECA0A56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481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15FA5-F3EA-4B55-A0CF-48986C97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7338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E7E1FC-A1C4-43B8-9E10-EE009E51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0040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AA78E2-09F5-4737-B910-85DD4FBD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71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802F15-3A78-42DE-9D71-A874BE85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Получить паспорт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0B0A6B-272E-4549-8FB1-A9F6EFC9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9100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memo + pack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97CBA0-E83A-4923-BC79-08195CFF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143500"/>
            <a:ext cx="845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2"/>
          </a:solidFill>
          <a:ln xmlns:a="http://schemas.openxmlformats.org/drawingml/2006/main" w="9525">
            <a:solidFill>
              <a:srgbClr val="1E5A7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2854BA-930E-4746-9CBD-86FE0D48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10175"/>
            <a:ext cx="822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По умолчанию: Live GBIF. Если GBIF недоступен - честный empty fallback без fixture-записей.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07396E-C56B-40FD-9CA9-A871211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74CA12-804E-47FE-90D6-B4087E81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530085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68905-806C-40B9-8AC4-01E1042B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727831-4901-43FB-AE13-5F3E93C8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8445CA-77C9-4B42-9081-B221D91D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UX / ПЕРВЫЙ ЭКРАН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03427-3019-45B6-9B6D-11DFE380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Presentation объясняет суть за один экран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CB471-0B68-42B9-9605-34370D4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Этот режим нужен для жюри, партнеров и людей, которые впервые видят проект.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CFDCA-8747-4511-9EC4-EDB07DD4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123950"/>
            <a:ext cx="61341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7733bf7dc4e03"/>
          <a:stretch xmlns:a="http://schemas.openxmlformats.org/drawingml/2006/main"/>
        </p:blipFill>
        <p:spPr>
          <a:xfrm xmlns:a="http://schemas.openxmlformats.org/drawingml/2006/main">
            <a:off x="5334000" y="1163241"/>
            <a:ext cx="6057900" cy="340756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26DC6-0EA8-4FCE-BA1C-B3916ACB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5C043-C86F-4575-8EF2-50968D2D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3409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что решает инструмент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703A9-A74D-484A-921A-757AA117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BB4CD-5BF5-4A87-93E8-9B963EAA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57575"/>
            <a:ext cx="3409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live GBIF/API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F706A-5736-468B-A8C3-801CCA41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75F34-B7D2-4D14-A170-00065A29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3409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вердикт и карта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CA7AB-10C1-4E4C-8A90-A98DAD6E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91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1371F-8DC3-4912-9BAE-A3B8758D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14825"/>
            <a:ext cx="3409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safe / blocked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49E42-C175-4ACE-A893-7F60B2A4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5325D7-27CC-4EFD-AE1A-FEE52197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3409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Evidence Pack download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EEBA3-D5C7-4F1F-AE64-3E45E39B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8E424-2FBE-4C0B-AA6C-F9377BEC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59571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921FB-EF5A-44A2-B1E5-97FCCDF8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11C153-E61D-4C49-9B6C-FED412DD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C3D99D-B381-4549-A9CA-63B460E3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РАБОЧИЙ РЕЖИМ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E3226-C87F-4F99-8744-8DAB6084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Workbench нужен для реальной работы с GBIF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2A992-6461-407E-8005-94AAD8D9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Пользователь не видит лишней инженерной сложности: только таксон, регион, цель и генерация.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F89C6-34C2-462C-BC94-2B2B8C6C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58293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4fe7d6dfd418b"/>
          <a:stretch xmlns:a="http://schemas.openxmlformats.org/drawingml/2006/main"/>
        </p:blipFill>
        <p:spPr>
          <a:xfrm xmlns:a="http://schemas.openxmlformats.org/drawingml/2006/main">
            <a:off x="628650" y="2782491"/>
            <a:ext cx="5753100" cy="32361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10616-6B24-47B5-ADF6-01EA5261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40957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D0C6D-40D0-439D-AE87-14B1911D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Минимальный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EA68B2-A633-4962-BBD9-5379A245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10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A629F-AB7F-4CD1-A3A7-12B5D8A4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поиск таксона через GBIF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E8D2D-5D62-42D3-973C-28D226E3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81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E1DC29-CAD8-4A4F-8C25-829C29B5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05275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выбор taxonKey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1EA30-5B0B-464C-977F-E05B6D6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52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77BE34-5F78-4580-B177-DDDCA035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767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region preset или bbox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28A78-1A8C-40CD-AEBF-EC6A5998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24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4A45A0-50E0-4CC5-B00F-5F25CF6A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848225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purpose и max records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92267-966E-4A1E-9337-BDE18D92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959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5B3DC-3E37-48DC-9056-3097FD0A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1970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Generate Evidence Passport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198351-FF43-41F1-A05B-2D94E9C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9B0960-C025-446D-8F1C-7649CF64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75856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32DA11-206B-43CD-B682-A6CB9623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83A6985-A90B-4D86-8680-8F5DD253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972214-F889-4A50-A303-7F88F817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71269-9B5A-4BFE-85C5-C454CA36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Результат начинается с ответа, а не с таблицы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A8877-9759-4412-8FA9-3D01AAE3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Decision Memo говорит простым языком: подходит ли evidence для выбранной цели и что делать дальше.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BA6FB-84EE-41F4-8E8D-4358E879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4579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6f087d9744dd8"/>
          <a:stretch xmlns:a="http://schemas.openxmlformats.org/drawingml/2006/main"/>
        </p:blipFill>
        <p:spPr>
          <a:xfrm xmlns:a="http://schemas.openxmlformats.org/drawingml/2006/main">
            <a:off x="559858" y="2762250"/>
            <a:ext cx="6366933" cy="3581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AC2BA-E087-404F-A39F-BA56B0F3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8FA50-5E08-4FF7-91CE-274E3D98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2420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86/100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E8C3A-9D3A-46AA-830C-494DA410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052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75F"/>
                </a:solidFill>
                <a:latin typeface="Arial"/>
                <a:ea typeface="Arial"/>
                <a:cs typeface="Arial"/>
              </a:rPr>
              <a:t>readiness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1B0C3-0424-4847-BD27-7403E84D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EF7A4-DB67-4C61-A6FC-2EDDCC23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2420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E4D2A-D7F5-41AF-A6FA-2B0C2CB1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50520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75F"/>
                </a:solidFill>
                <a:latin typeface="Arial"/>
                <a:ea typeface="Arial"/>
                <a:cs typeface="Arial"/>
              </a:rPr>
              <a:t>records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0BE0D-5524-47AE-9E06-0E546E9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7670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5D3A5-086E-4E6C-A072-75D326FF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66A1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66A1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36FA99-7330-4CB2-A582-95F09946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9105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75F"/>
                </a:solidFill>
                <a:latin typeface="Arial"/>
                <a:ea typeface="Arial"/>
                <a:cs typeface="Arial"/>
              </a:rPr>
              <a:t>no-evidence cells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E029B-4B87-4B63-B5E7-E8D8FF52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76700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ED18E5-5CAB-47E2-8AE7-C391FDDC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00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A66A1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66A1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E9AD2-2A2B-4F42-B085-40F2DE84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91050"/>
            <a:ext cx="1085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6675F"/>
                </a:solidFill>
                <a:latin typeface="Arial"/>
                <a:ea typeface="Arial"/>
                <a:cs typeface="Arial"/>
              </a:rPr>
              <a:t>survey priorities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7421FB-254D-4932-91A3-BFAC6F0F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297422-333F-4563-B6CF-595A66C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616741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CEC34-2FD5-45EF-BD7C-95B50CE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645247-338E-431D-90EE-A04FA906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823D1BD-FAD1-49FE-87BE-8C66B570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НАУЧНАЯ БЕЗОПАСНОСТЬ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146F9-4EE7-45CB-A6AC-0F459F69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Claim Guardrails защищает от неверных выводов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80C47-E095-481D-8513-6C8A23B7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Самое важное: инструмент не разрешает превращать отсутствие записей в отсутствие вида.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00605-E455-49B3-A6CE-6A5B9696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857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05043-E2ED-4DDF-914E-3C825EA0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Можно утверждать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64164-F5AC-49DA-9155-C4A8A067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9DCFF-1ADB-46B1-A97A-6D918AAF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0045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записи GBIF по выбранному taxonKey есть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CA37A-112C-4BAE-8F48-F44DCEC4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DF9CA-2F7F-4F18-A4B7-B49DD734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datasetKey и источники сохранены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608A9-7570-4A40-9854-666292D1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EA4AB-C1E8-4AB0-9BC8-78E1B80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качество данных можно проверить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FC279-F508-4547-AD6D-B0183E15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0350"/>
            <a:ext cx="4857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EDB"/>
          </a:solidFill>
          <a:ln xmlns:a="http://schemas.openxmlformats.org/drawingml/2006/main" w="9525">
            <a:solidFill>
              <a:srgbClr val="B451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DEE8B-5679-45C2-843E-94CC7F70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51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5145"/>
                </a:solidFill>
                <a:latin typeface="Arial"/>
                <a:ea typeface="Arial"/>
                <a:cs typeface="Arial"/>
              </a:rPr>
              <a:t>Нельзя утверждать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D4FA7-33D5-492E-A7A9-82CC78FA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45"/>
          </a:solidFill>
          <a:ln xmlns:a="http://schemas.openxmlformats.org/drawingml/2006/main" w="0">
            <a:solidFill>
              <a:srgbClr val="B4514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BD9A8-3F34-4877-B867-24B315C8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пустая клетка значит отсутствие вида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DF658-2DB1-4E8C-A29E-3092518B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45"/>
          </a:solidFill>
          <a:ln xmlns:a="http://schemas.openxmlformats.org/drawingml/2006/main" w="0">
            <a:solidFill>
              <a:srgbClr val="B451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923817-F944-4DD6-B10E-B195ABE2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386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карта GBIF равна истинному ареалу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0B699-FC51-422C-9B09-2813E31D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145"/>
          </a:solidFill>
          <a:ln xmlns:a="http://schemas.openxmlformats.org/drawingml/2006/main" w="0">
            <a:solidFill>
              <a:srgbClr val="B451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598A7-7C0D-469E-B871-ECA8BD6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7675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820"/>
                </a:solidFill>
                <a:latin typeface="Arial"/>
                <a:ea typeface="Arial"/>
                <a:cs typeface="Arial"/>
              </a:rPr>
              <a:t>по этим данным уже виден тренд популяции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42D80-2B04-4CA5-A9C1-421BE7CA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DEA18-279B-4876-885D-FB9E5974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457380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0D9AE5-1629-4B57-BEEF-C9BEC529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77FEDDA-D9C5-4438-9E74-76BE6C5B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A70ECA4-F727-4C89-A406-F2F1E968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ЭКСПОРТ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BC8C-EE9F-4FDE-AFFC-E08F6B52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Evidence Pack делает результат проверяемым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640DD-B631-4568-A473-9DFDDFE3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Судья, исследователь или data manager может скачать архив и открыть все доказательства отдельно.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F0D82-46BF-4BB9-8513-4CF394FD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51244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414a0f4ef4d21"/>
          <a:stretch xmlns:a="http://schemas.openxmlformats.org/drawingml/2006/main"/>
        </p:blipFill>
        <p:spPr>
          <a:xfrm xmlns:a="http://schemas.openxmlformats.org/drawingml/2006/main">
            <a:off x="515408" y="2838450"/>
            <a:ext cx="5046133" cy="28384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AE49E-6DDB-4BF7-A87E-43DABF93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88784E-7104-411E-8679-0DF8B579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decision_memo.md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FD189-8AA3-445E-99C3-D94B7AB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9562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ответ человеку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82208-9496-4A41-8CF7-A86405B1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A4D30-4AA0-410A-A2AA-36D98BF7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7655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citations.md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EE9F8-2E4F-4432-A162-35B6663F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9562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цитирование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7225A9-1B31-4D96-BE29-44EB3990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D7621-8A01-4862-BBD9-4BA40C3A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records.geojson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A883C-67D0-4CA9-B4F7-AEAA9BE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1477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карта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F2E1A-0D57-467B-8264-3B4EFB06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6739B0-5CD9-4D40-B387-3D69C932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9570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quality_metrics.csv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282B5-4885-4A97-BF24-04EB2CF9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91477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качество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608F2C-A71D-4731-B92C-32AA1020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96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CA4F7-7239-463E-9553-FA91F8B7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1485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publisher_issue_templates.md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844F07-0898-43D7-BE7B-D7C0E213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3392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B94C7-C2D7-4124-8C78-2E31D4F0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1960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2F8283-E88D-452F-B773-7C05CB4A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14850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evidence_pack.json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65942-4F43-434C-8B3A-B29ED5A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33925"/>
            <a:ext cx="1952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машинный формат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E7D567-40E8-4B8A-A285-199FC8B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48F1F1-470F-4DA6-B1E1-A33046B7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294178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70532-A3B2-4147-9E44-E9466F9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C08DB4-F73A-4CA1-BED8-F9D91565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A98F3AF-EFCE-460C-B006-E20650B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КОМУ ПОМОГАЕТ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DEB69-ED3F-4D9D-8EB5-699D0D6F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Ценность разная для разных людей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9232FD-F4A5-499D-906B-178D7A91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Один и тот же паспорт помогает исследователю, экологу, data manager и пользователю EcoGenesis.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DEB73-E432-4F18-8FF4-313906C3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7A9E9-B18A-4CB9-A016-E87B2AB2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Исследователь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605643-74B3-4CA5-8FD9-C462C381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быстро видит, можно ли использовать 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4ECA6-C4BD-4E4E-BCC3-DC06C762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6CDD07-37D6-468A-A90A-D804F47E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Эколог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D85E39-E6EB-48A1-9A22-4F3B0480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909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понимает, где нужны новые обследования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F7470-E4D1-4084-A968-EC0C75AA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53644-E10F-46F4-8F76-366F54C4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Data manager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D24D9-82C2-458E-872B-2134994C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получает список проблем и шаблоны feedback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5E77D4-2AB2-4039-9BE8-E060A78F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91000"/>
            <a:ext cx="4572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33357-94B8-494E-A999-C374D210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EcoGenesis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AEC1F-B8D0-47B0-AAD4-2C4C4A59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получает доверительный модуль для приложения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C53CC-468C-46BC-9EA1-85C1820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DCE6C-EF92-4079-9073-59B09A18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80842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3D922-9F10-42DD-B21C-1C0D7894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1A9D41-1558-4D48-A868-ED239722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21EFB0D-2A8A-4661-9DF3-65EBCDB3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ЦЕННОСТЬ ДЛЯ GBIF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6EF90-48B1-4115-A332-9636567B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Для GBIF это слой ответственного использования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50E59-CF1C-46AD-8B0B-A86D70DF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Проект не заменяет GBIF. Он помогает людям точнее интерпретировать и цитировать GBIF-mediated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E499E-D79D-4D04-BDF6-F3115A26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FD17C-A2AD-4BEC-B842-EB75A901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Данные GBIF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27916-2AA5-460A-B6C7-19A53FE0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записи и источники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296B5-12E3-4874-806E-E68B9292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909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2"/>
          </a:solidFill>
          <a:ln xmlns:a="http://schemas.openxmlformats.org/drawingml/2006/main" w="0">
            <a:solidFill>
              <a:srgbClr val="1E5A7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EF8657-ADCE-4177-B3F8-6EBC984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957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2F8D5-A943-4C8C-B38B-443CCC2D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147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8F9D1-F2D9-42F1-8249-018A59BE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24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Паспорт доказательств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D3CDE-804D-4217-9A60-8CF03E17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67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качество и ограничения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6CAFD-A1A1-4409-9102-D3713818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2"/>
          </a:solidFill>
          <a:ln xmlns:a="http://schemas.openxmlformats.org/drawingml/2006/main" w="0">
            <a:solidFill>
              <a:srgbClr val="1E5A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DBB1BB-20CB-466B-9735-12DEA5A5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D7E34-2185-486E-A83F-F251074B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147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E4770-FDDB-4602-92C1-5B8B8E9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24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Безопасные выводы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C2D88-710A-4991-ADEE-94DA309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67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без overclaiming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214AF-40C5-4704-A890-9C33396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909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72"/>
          </a:solidFill>
          <a:ln xmlns:a="http://schemas.openxmlformats.org/drawingml/2006/main" w="0">
            <a:solidFill>
              <a:srgbClr val="1E5A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8AFA5-8AF1-469E-A407-29C7CDEF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9570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5A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E5A72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ACB97-4B6B-4F2F-A4C4-303B120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2247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F8C2BD-5266-46B9-A494-108C89E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24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Feedback publishers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5DBB1-0CEE-4083-A8F2-DECA1CF6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671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что исправить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2127A-347B-40C8-8DAA-C74F405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767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8411B8-CFEB-4B6E-AE00-6B6BB572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05475"/>
            <a:ext cx="744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Больше ответственного reuse -&gt; лучше citations -&gt; понятнее gaps -&gt; полезнее feedback.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41123D-5948-4A99-BCDD-CD8507B8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7BF6A-715E-4E71-A840-512FFAA5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38370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538FFF-3424-4D1D-A1B3-192A8AA5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4DCFC6-E146-4A80-82EE-A84C3FDE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FCCB2A-C6C0-4EEE-957E-E488BB69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ЦЕННОСТЬ ДЛЯ ПРИЛОЖЕНИЯ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EB8BA-98F0-485B-9963-C29F6235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Для EcoGenesis это модуль доверия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2FA51-D0BD-4EC5-9F08-1B3ED9E4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Evidence Passport можно встроить в карту, AI-агента, кабинет исследователя и будущую платформу мониторинга.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7D692-AC51-4DBC-9639-EA6E6C2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64829-2313-49D1-B0D7-80BFC53F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5EB11-C33D-477A-B6FB-3BBF2853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1866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вид + регион + цель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3D61C-230E-497B-9C74-231536F0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957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B776F-BB59-488B-9695-17826B11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81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6AF3D-E1C3-4743-8E93-79C3FA0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2667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EC56F-CAC9-4C29-BDC5-F255D983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Evidence Passport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B4B2B-3B2F-4C84-A432-7E68EF79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1943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GBIF API</a:t>
            </a:r>
          </a:p>
          <a:p xmlns:a="http://schemas.openxmlformats.org/drawingml/2006/main">
            <a:pPr algn="ctr">
              <a:defRPr sz="14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quality engine</a:t>
            </a:r>
          </a:p>
          <a:p xmlns:a="http://schemas.openxmlformats.org/drawingml/2006/main">
            <a:pPr algn="ctr">
              <a:defRPr sz="14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claim guardrails</a:t>
            </a:r>
          </a:p>
          <a:p xmlns:a="http://schemas.openxmlformats.org/drawingml/2006/main">
            <a:pPr algn="ctr">
              <a:defRPr sz="142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citation autopilot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B0441-756C-41A3-BB07-FFBA05E4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2FC73-D913-4BC4-B017-BEBCED87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F6C2B-A7D3-4BDF-85C5-41ABC9D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A648E-11F2-485C-9154-1496CE10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385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EcoGenesis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2542D-0461-4268-95B4-EE1490B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338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карта, агент,</a:t>
            </a:r>
          </a:p>
          <a:p xmlns:a="http://schemas.openxmlformats.org/drawingml/2006/main">
            <a:pPr algn="ctr">
              <a:defRPr sz="135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отчет,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4B49A-3E0A-4D27-B068-C6275B93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BBE4F-AA0F-45AA-9E41-5F518163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92317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9C2CA-BE53-4F1E-A230-25DBC8BF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0E7367-D982-4720-AF04-CDBA3BE9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F6E0FF-56F6-4AED-871E-3D893234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7E8C9-B032-457F-8B4A-69A4746A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Дальше: из конкурсного MVP в платформенный стандарт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9AB5E-608F-41BF-B76D-7A15331E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Проект уже можно показывать как инструмент. Следующий шаг - публичный запуск, DOI-backed example и расширение сценариев.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76284-629F-4842-9147-4BE491A3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B"/>
          </a:solidFill>
          <a:ln xmlns:a="http://schemas.openxmlformats.org/drawingml/2006/main" w="9525">
            <a:solidFill>
              <a:srgbClr val="1874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0EEFE-05B4-403C-8F1A-EB2AAD03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A4362-4085-4CB6-9DFD-A4CEFD0B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MVP, видео, demo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544D4-B690-439F-BBDC-BB9A05DD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E80BBB-6987-4070-907C-49A0E1E8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6385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BD268-0D36-4AEC-8704-DC6CD156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8DEA6-4427-472F-A126-7AEB378E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71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подача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1193E2-B4B7-4ADD-99CF-EA66408E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public repo, release, video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084DE-938D-464B-BDEA-98171BA5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528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E2D94-7A8A-4203-BCC5-8B2282E5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6385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00EE80-30FD-4EC1-A2FF-F53E57C4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AA53A-C9E0-4D4E-9968-C393EE2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усиление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47FE25-D362-4776-9D08-AC26A98B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hosted demo, DOI-backed GBIF 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D0514-12D2-44D2-8742-89F86FF2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528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45C"/>
          </a:solidFill>
          <a:ln xmlns:a="http://schemas.openxmlformats.org/drawingml/2006/main" w="0">
            <a:solidFill>
              <a:srgbClr val="1874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1B8A5-4A1D-4D25-9E89-FB42485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38550"/>
            <a:ext cx="133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53A59D-7140-4676-B711-7F134012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2286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8D7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545C4-0F9C-42E8-82BA-B9F2CBE0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718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820"/>
                </a:solidFill>
                <a:latin typeface="Arial"/>
                <a:ea typeface="Arial"/>
                <a:cs typeface="Arial"/>
              </a:rPr>
              <a:t>после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2E948-DB5E-459A-AEF8-960747F0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модуль EcoGenesis platform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CEFC3-6E9B-4F15-A966-34AC188C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57800"/>
            <a:ext cx="9639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745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745C"/>
                </a:solidFill>
                <a:latin typeface="Arial"/>
                <a:ea typeface="Arial"/>
                <a:cs typeface="Arial"/>
              </a:rPr>
              <a:t>Главный итог: EcoGenesis переводит GBIF-данные из режима “посмотреть точки” в режим “принять проверяемое решение”.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B5D79-AC0B-4539-801D-45D11F6E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EcoGenesis Evidence Atlas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423FBD-1C7D-4B4D-B243-F61B9D43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198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6675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667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5007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2026-05-22T13:12:42.1850000Z</dcterms:created>
  <dcterms:modified xsi:type="dcterms:W3CDTF">2026-05-22T13:12:42.1850000Z</dcterms:modified>
</coreProperties>
</file>